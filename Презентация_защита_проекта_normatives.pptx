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Защита проекта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Интеллектуальный RAG-ассистент по лицензированию алкогольной продукции и ЕГАИС</a:t>
            </a:r>
          </a:p>
          <a:p>
            <a:r>
              <a:t>Студент: &lt;ФИО&gt; | Курс: &lt;название курса&gt;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План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Цель и задачи проекта</a:t>
            </a:r>
          </a:p>
          <a:p>
            <a:pPr>
              <a:defRPr sz="2000"/>
            </a:pPr>
            <a:r>
              <a:t>Использованные технологии</a:t>
            </a:r>
          </a:p>
          <a:p>
            <a:pPr>
              <a:defRPr sz="2000"/>
            </a:pPr>
            <a:r>
              <a:t>Что реализовано и что получилось</a:t>
            </a:r>
          </a:p>
          <a:p>
            <a:pPr>
              <a:defRPr sz="2000"/>
            </a:pPr>
            <a:r>
              <a:t>Результаты качества и UX-улучшения</a:t>
            </a:r>
          </a:p>
          <a:p>
            <a:pPr>
              <a:defRPr sz="2000"/>
            </a:pPr>
            <a:r>
              <a:t>Выводы и дальнейшее развитие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и задачи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Цель: создать практичный локальный RAG-ассистент с официальными источниками и контролем качества ответа.</a:t>
            </a:r>
          </a:p>
          <a:p>
            <a:pPr>
              <a:defRPr sz="2000"/>
            </a:pPr>
            <a:r>
              <a:t>Задача 1: подготовить и очистить корпус нормативных документов.</a:t>
            </a:r>
          </a:p>
          <a:p>
            <a:pPr>
              <a:defRPr sz="2000"/>
            </a:pPr>
            <a:r>
              <a:t>Задача 2: реализовать гибридный retrieval (TF-IDF + embeddings + multi-step).</a:t>
            </a:r>
          </a:p>
          <a:p>
            <a:pPr>
              <a:defRPr sz="2000"/>
            </a:pPr>
            <a:r>
              <a:t>Задача 3: добавить guardrails против фактических ошибок и шумных ссылок.</a:t>
            </a:r>
          </a:p>
          <a:p>
            <a:pPr>
              <a:defRPr sz="2000"/>
            </a:pPr>
            <a:r>
              <a:t>Задача 4: сделать user-friendly формат ответа для заявителя.</a:t>
            </a:r>
          </a:p>
          <a:p>
            <a:pPr>
              <a:defRPr sz="2000"/>
            </a:pPr>
            <a:r>
              <a:t>Задача 5: провести eval и улучшить пользовательский интерфейс.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 и инструменты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Python, Gradio — веб-приложение и интерфейс.</a:t>
            </a:r>
          </a:p>
          <a:p>
            <a:pPr>
              <a:defRPr sz="2000"/>
            </a:pPr>
            <a:r>
              <a:t>RAG-пайплайн: lexical index + embeddings re-rank + иерархическое расширение.</a:t>
            </a:r>
          </a:p>
          <a:p>
            <a:pPr>
              <a:defRPr sz="2000"/>
            </a:pPr>
            <a:r>
              <a:t>LLM backends: Yandex OpenAI-compatible, AITUNNEL, Ollama, Local LoRA.</a:t>
            </a:r>
          </a:p>
          <a:p>
            <a:pPr>
              <a:defRPr sz="2000"/>
            </a:pPr>
            <a:r>
              <a:t>SQLite-кэш ответов и retrieval для ускорения работы.</a:t>
            </a:r>
          </a:p>
          <a:p>
            <a:pPr>
              <a:defRPr sz="2000"/>
            </a:pPr>
            <a:r>
              <a:t>Pytest + eval scripts (smoke/extra10/load) для контроля регрессий.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1) Подготовка корпуса: import/clean/chunk/index.</a:t>
            </a:r>
          </a:p>
          <a:p>
            <a:pPr>
              <a:defRPr sz="2000"/>
            </a:pPr>
            <a:r>
              <a:t>2) Retrieval: TF-IDF -&gt; embeddings re-rank -&gt; multi-step follow-up.</a:t>
            </a:r>
          </a:p>
          <a:p>
            <a:pPr>
              <a:defRPr sz="2000"/>
            </a:pPr>
            <a:r>
              <a:t>3) Generation: LLM + post-processing.</a:t>
            </a:r>
          </a:p>
          <a:p>
            <a:pPr>
              <a:defRPr sz="2000"/>
            </a:pPr>
            <a:r>
              <a:t>4) Guardrails: проверка критичных фактов, источников и реквизитов.</a:t>
            </a:r>
          </a:p>
          <a:p>
            <a:pPr>
              <a:defRPr sz="2000"/>
            </a:pPr>
            <a:r>
              <a:t>5) Форматирование: структурированный ответ для пользователя.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реализовано (функционально)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Структурированный ответ: краткий ответ, действия, документы, уточнения, проверка норм, источники.</a:t>
            </a:r>
          </a:p>
          <a:p>
            <a:pPr>
              <a:defRPr sz="2000"/>
            </a:pPr>
            <a:r>
              <a:t>Жесткое правило: если пользователь просит список документов -&gt; выдаем список; иначе честно сообщаем об отсутствии списка в контексте.</a:t>
            </a:r>
          </a:p>
          <a:p>
            <a:pPr>
              <a:defRPr sz="2000"/>
            </a:pPr>
            <a:r>
              <a:t>Спец-кейс для подпунктов 1–3, 6 пункта 33: явный перечень документов.</a:t>
            </a:r>
          </a:p>
          <a:p>
            <a:pPr>
              <a:defRPr sz="2000"/>
            </a:pPr>
            <a:r>
              <a:t>Пользовательский интерфейс: базовый режим + экспертный режим + FAQ-кэш быстрых вопросов.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Качество и 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Eval extra10: ok=10/10 (последний прогон).</a:t>
            </a:r>
          </a:p>
          <a:p>
            <a:pPr>
              <a:defRPr sz="2000"/>
            </a:pPr>
            <a:r>
              <a:t>Тесты: 65 passed (критические guardrails и формат ответа).</a:t>
            </a:r>
          </a:p>
          <a:p>
            <a:pPr>
              <a:defRPr sz="2000"/>
            </a:pPr>
            <a:r>
              <a:t>Снижены галлюцинации по источникам и реквизитам за счет sanitizer + strict sources.</a:t>
            </a:r>
          </a:p>
          <a:p>
            <a:pPr>
              <a:defRPr sz="2000"/>
            </a:pPr>
            <a:r>
              <a:t>Повышена предсказуемость пользовательских ответов благодаря стандартизированному шаблону.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UX-улучшения для пользователя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Упрощена панель настроек: по умолчанию пользовательский режим.</a:t>
            </a:r>
          </a:p>
          <a:p>
            <a:pPr>
              <a:defRPr sz="2000"/>
            </a:pPr>
            <a:r>
              <a:t>Добавлен переключатель Экспертный режим для технических параметров.</a:t>
            </a:r>
          </a:p>
          <a:p>
            <a:pPr>
              <a:defRPr sz="2000"/>
            </a:pPr>
            <a:r>
              <a:t>Добавлена левая панель частых вопросов с мгновенными ответами из локального кэша.</a:t>
            </a:r>
          </a:p>
          <a:p>
            <a:pPr>
              <a:defRPr sz="2000"/>
            </a:pPr>
            <a:r>
              <a:t>Улучшена читабельность ответа: акцент на действия и документы.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Цель проекта достигнута: ассистент дает практичные ответы с нормативной опорой.</a:t>
            </a:r>
          </a:p>
          <a:p>
            <a:pPr>
              <a:defRPr sz="2000"/>
            </a:pPr>
            <a:r>
              <a:t>Ключевой эффект дали guardrails + retrieval + стандартизация формата.</a:t>
            </a:r>
          </a:p>
          <a:p>
            <a:pPr>
              <a:defRPr sz="2000"/>
            </a:pPr>
            <a:r>
              <a:t>Сложности: неоднородные формулировки НПА и извлечение списков из юридического текста.</a:t>
            </a:r>
          </a:p>
          <a:p>
            <a:pPr>
              <a:defRPr sz="2000"/>
            </a:pPr>
            <a:r>
              <a:t>Проект полезен как база для внедрения в учебный/внутренний контур консультаций.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Дальнейшее развитие и вопросы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Вынести FAQ-кэш в отдельный JSON/БД для управления без правки кода.</a:t>
            </a:r>
          </a:p>
          <a:p>
            <a:pPr>
              <a:defRPr sz="2000"/>
            </a:pPr>
            <a:r>
              <a:t>Добавить расширенные метрики качества и мониторинг в прод-режиме.</a:t>
            </a:r>
          </a:p>
          <a:p>
            <a:pPr>
              <a:defRPr sz="2000"/>
            </a:pPr>
            <a:r>
              <a:t>Расширить набор регрессионных сценариев и формальный confidence scoring.</a:t>
            </a:r>
          </a:p>
          <a:p>
            <a:pPr>
              <a:defRPr sz="2000"/>
            </a:pPr>
            <a:r>
              <a:t>Готов ответить на вопросы и показать live-демо.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