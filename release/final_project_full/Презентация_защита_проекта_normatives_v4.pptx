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Защита проекта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Интеллектуальный RAG-ассистент по лицензированию алкогольной продукции и ЕГАИС</a:t>
            </a:r>
          </a:p>
          <a:p>
            <a:r>
              <a:t>Студент: &lt;ФИО&gt; | Курс: &lt;название курса&gt;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защиты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Актуальность, цель и задачи проекта</a:t>
            </a:r>
          </a:p>
          <a:p>
            <a:pPr>
              <a:defRPr sz="1900"/>
            </a:pPr>
            <a:r>
              <a:t>Технологический стек и обоснование выбора</a:t>
            </a:r>
          </a:p>
          <a:p>
            <a:pPr>
              <a:defRPr sz="1900"/>
            </a:pPr>
            <a:r>
              <a:t>Пошаговая реализация retrieval-пайплайна</a:t>
            </a:r>
          </a:p>
          <a:p>
            <a:pPr>
              <a:defRPr sz="1900"/>
            </a:pPr>
            <a:r>
              <a:t>Что реализовано и результаты качества</a:t>
            </a:r>
          </a:p>
          <a:p>
            <a:pPr>
              <a:defRPr sz="1900"/>
            </a:pPr>
            <a:r>
              <a:t>Выводы и дальнейшее развитие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 и цель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Проблема: работа с НПА и ЕГАИС требует ручного поиска и сверки множества документов.</a:t>
            </a:r>
          </a:p>
          <a:p>
            <a:pPr>
              <a:defRPr sz="1900"/>
            </a:pPr>
            <a:r>
              <a:t>Риск: ошибки в трактовке норм и в перечнях документов увеличивают срок обработки обращений.</a:t>
            </a:r>
          </a:p>
          <a:p>
            <a:pPr>
              <a:defRPr sz="1900"/>
            </a:pPr>
            <a:r>
              <a:t>Цель: создать локальный ассистент, который ускоряет поиск релевантных норм и формирует структурированный ответ для заявителя.</a:t>
            </a:r>
          </a:p>
          <a:p>
            <a:pPr>
              <a:defRPr sz="1900"/>
            </a:pPr>
            <a:r>
              <a:t>Практический эффект: меньше ручных ошибок, выше прозрачность процедуры, быстрее первичный ответ.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Задачи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Подготовить и очистить корпус нормативных документов.</a:t>
            </a:r>
          </a:p>
          <a:p>
            <a:pPr>
              <a:defRPr sz="1900"/>
            </a:pPr>
            <a:r>
              <a:t>Реализовать retrieval: TF-IDF + embeddings re-rank + multi-step.</a:t>
            </a:r>
          </a:p>
          <a:p>
            <a:pPr>
              <a:defRPr sz="1900"/>
            </a:pPr>
            <a:r>
              <a:t>Добавить guardrails для контроля фактов, ссылок и реквизитов.</a:t>
            </a:r>
          </a:p>
          <a:p>
            <a:pPr>
              <a:defRPr sz="1900"/>
            </a:pPr>
            <a:r>
              <a:t>Сделать user-mode формат ответа (шаги, документы, уточнения, источники).</a:t>
            </a:r>
          </a:p>
          <a:p>
            <a:pPr>
              <a:defRPr sz="1900"/>
            </a:pPr>
            <a:r>
              <a:t>Провести eval и улучшить UX под реального пользователя.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выбран Lexical Index (TF-IDF)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Почему: быстрый и прозрачный базовый поиск по юридическому корпусу.</a:t>
            </a:r>
          </a:p>
          <a:p>
            <a:pPr>
              <a:defRPr sz="1900"/>
            </a:pPr>
            <a:r>
              <a:t>Почему: хорошо работает на устойчивой терминологии (статья, пункт, подпункт, номер НПА).</a:t>
            </a:r>
          </a:p>
          <a:p>
            <a:pPr>
              <a:defRPr sz="1900"/>
            </a:pPr>
            <a:r>
              <a:t>Плюс: легко объяснить релевантность и воспроизводимость результатов.</a:t>
            </a:r>
          </a:p>
          <a:p>
            <a:pPr>
              <a:defRPr sz="1900"/>
            </a:pPr>
            <a:r>
              <a:t>Роль в системе: первый этап отбора кандидатов перед семантическим ранжированием.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мы делали TF-IDF (пошагово)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Шаг 1: подготовили очищенный корпус документов и метаданные (doc_type, номер, дата, section).</a:t>
            </a:r>
          </a:p>
          <a:p>
            <a:pPr>
              <a:defRPr sz="1900"/>
            </a:pPr>
            <a:r>
              <a:t>Шаг 2: нарезали корпус на юридические чанки с сохранением структуры статей и списков.</a:t>
            </a:r>
          </a:p>
          <a:p>
            <a:pPr>
              <a:defRPr sz="1900"/>
            </a:pPr>
            <a:r>
              <a:t>Шаг 3: построили lexical index (TF-IDF) по чанкам.</a:t>
            </a:r>
          </a:p>
          <a:p>
            <a:pPr>
              <a:defRPr sz="1900"/>
            </a:pPr>
            <a:r>
              <a:t>Шаг 4: реализовали первичный ranking и фильтрацию official_only.</a:t>
            </a:r>
          </a:p>
          <a:p>
            <a:pPr>
              <a:defRPr sz="1900"/>
            </a:pPr>
            <a:r>
              <a:t>Шаг 5: добавили разнообразие источников и post-filters для юридических запросов.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Embeddings re-rank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Почему: lexical-поиск пропускает семантически близкие переформулировки.</a:t>
            </a:r>
          </a:p>
          <a:p>
            <a:pPr>
              <a:defRPr sz="1900"/>
            </a:pPr>
            <a:r>
              <a:t>Плюс: повышает качество выдачи на естественном языке и синонимах.</a:t>
            </a:r>
          </a:p>
          <a:p>
            <a:pPr>
              <a:defRPr sz="1900"/>
            </a:pPr>
            <a:r>
              <a:t>Роль в системе: пересортировка top-N кандидатов после TF-IDF.</a:t>
            </a:r>
          </a:p>
          <a:p>
            <a:pPr>
              <a:defRPr sz="1900"/>
            </a:pPr>
            <a:r>
              <a:t>Ограничение: не заменяет lexical, а усиливает его на сложных формулировках.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мы делали Embeddings re-rank (пошагово)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Шаг 1: брали top-N кандидатов из TF-IDF (настраиваемый диапазон).</a:t>
            </a:r>
          </a:p>
          <a:p>
            <a:pPr>
              <a:defRPr sz="1900"/>
            </a:pPr>
            <a:r>
              <a:t>Шаг 2: считали embedding для вопроса и кандидатов.</a:t>
            </a:r>
          </a:p>
          <a:p>
            <a:pPr>
              <a:defRPr sz="1900"/>
            </a:pPr>
            <a:r>
              <a:t>Шаг 3: вычисляли семантическую близость и объединяли с lexical-score.</a:t>
            </a:r>
          </a:p>
          <a:p>
            <a:pPr>
              <a:defRPr sz="1900"/>
            </a:pPr>
            <a:r>
              <a:t>Шаг 4: применяли кэш эмбеддингов для ускорения повторных запросов.</a:t>
            </a:r>
          </a:p>
          <a:p>
            <a:pPr>
              <a:defRPr sz="1900"/>
            </a:pPr>
            <a:r>
              <a:t>Шаг 5: добавили post-expansion rerank после иерархического расширения.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Multi-step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Почему: юридические вопросы часто содержат ссылки и зависимые уточнения.</a:t>
            </a:r>
          </a:p>
          <a:p>
            <a:pPr>
              <a:defRPr sz="1900"/>
            </a:pPr>
            <a:r>
              <a:t>Плюс: лучше покрытие сложных кейсов (статья+пункт+связанный регламент).</a:t>
            </a:r>
          </a:p>
          <a:p>
            <a:pPr>
              <a:defRPr sz="1900"/>
            </a:pPr>
            <a:r>
              <a:t>Роль: запуск follow-up подзапросов к индексу и объединение релевантных фрагментов.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мы делали Multi-step retrieval (пошагово)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Шаг 1: первичный retrieval по исходному вопросу.</a:t>
            </a:r>
          </a:p>
          <a:p>
            <a:pPr>
              <a:defRPr sz="1900"/>
            </a:pPr>
            <a:r>
              <a:t>Шаг 2: построение уточняющих подзапросов (follow-up/anchor queries).</a:t>
            </a:r>
          </a:p>
          <a:p>
            <a:pPr>
              <a:defRPr sz="1900"/>
            </a:pPr>
            <a:r>
              <a:t>Шаг 3: повторный retrieval по уточняющим запросам.</a:t>
            </a:r>
          </a:p>
          <a:p>
            <a:pPr>
              <a:defRPr sz="1900"/>
            </a:pPr>
            <a:r>
              <a:t>Шаг 4: merge и дедуп результатов + иерархическое расширение соседних частей нормы.</a:t>
            </a:r>
          </a:p>
          <a:p>
            <a:pPr>
              <a:defRPr sz="1900"/>
            </a:pPr>
            <a:r>
              <a:t>Шаг 5: финальный rerank и передача контекста в генерацию.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Описание проделанной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Реализован полный контур: корпус -&gt; индекс -&gt; retrieval -&gt; генерация -&gt; guardrails -&gt; eval.</a:t>
            </a:r>
          </a:p>
          <a:p>
            <a:pPr>
              <a:defRPr sz="1900"/>
            </a:pPr>
            <a:r>
              <a:t>Добавлены правила качества: контроль источников, реквизитов и критичных фактов.</a:t>
            </a:r>
          </a:p>
          <a:p>
            <a:pPr>
              <a:defRPr sz="1900"/>
            </a:pPr>
            <a:r>
              <a:t>Введено правило: запрос списка документов -&gt; явный список или честное отсутствие списка в контексте.</a:t>
            </a:r>
          </a:p>
          <a:p>
            <a:pPr>
              <a:defRPr sz="1900"/>
            </a:pPr>
            <a:r>
              <a:t>Сделан пользовательский интерфейс: user-mode, expert-mode, FAQ-кэш быстрых вопросов.</a:t>
            </a:r>
          </a:p>
          <a:p>
            <a:pPr>
              <a:defRPr sz="1900"/>
            </a:pPr>
            <a:r>
              <a:t>Добавлено расширенное логирование UI и диагностик ответа.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Скриншот 1: Интерфейс приложения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972800" cy="448056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МЕСТО ДЛЯ СКРИНШОТА</a:t>
            </a:r>
          </a:p>
          <a:p>
            <a:pPr>
              <a:defRPr sz="1400"/>
            </a:pPr>
            <a:r>
              <a:t>Рекомендуется вставить главный экран user-mode с FAQ-панелью и чатом.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Вставьте ваш скриншот поверх плейсхолдера и удалите этот текстовый блок при финализации.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Скриншот 2: Пример ответа на запрос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972800" cy="448056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МЕСТО ДЛЯ СКРИНШОТА</a:t>
            </a:r>
          </a:p>
          <a:p>
            <a:pPr>
              <a:defRPr sz="1400"/>
            </a:pPr>
            <a:r>
              <a:t>Вставьте ответ с блоками: краткий ответ, шаги, документы, источники.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Вставьте ваш скриншот поверх плейсхолдера и удалите этот текстовый блок при финализации.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Скриншот 3: Результаты eval/тестов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972800" cy="448056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МЕСТО ДЛЯ СКРИНШОТА</a:t>
            </a:r>
          </a:p>
          <a:p>
            <a:pPr>
              <a:defRPr sz="1400"/>
            </a:pPr>
            <a:r>
              <a:t>Вставьте отчет extra10 (ok=10/10) и/или фрагмент логов/тестов.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Вставьте ваш скриншот поверх плейсхолдера и удалите этот текстовый блок при финализации.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Результаты качества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Eval extra10: ok=10/10 (последние прогоны).</a:t>
            </a:r>
          </a:p>
          <a:p>
            <a:pPr>
              <a:defRPr sz="1900"/>
            </a:pPr>
            <a:r>
              <a:t>Тесты: 65 passed (регрессия critical guard + format).</a:t>
            </a:r>
          </a:p>
          <a:p>
            <a:pPr>
              <a:defRPr sz="1900"/>
            </a:pPr>
            <a:r>
              <a:t>Снижены ошибки по источникам и галлюцинациям за счет sanitizer и strict-source reconstruction.</a:t>
            </a:r>
          </a:p>
          <a:p>
            <a:pPr>
              <a:defRPr sz="1900"/>
            </a:pPr>
            <a:r>
              <a:t>Повышена предсказуемость пользовательского ответа через единый шаблон.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 и развитие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Цель достигнута: построен рабочий локальный RAG-ассистент для практических юридических сценариев.</a:t>
            </a:r>
          </a:p>
          <a:p>
            <a:pPr>
              <a:defRPr sz="1900"/>
            </a:pPr>
            <a:r>
              <a:t>Наибольший вклад в качество: гибридный retrieval + guardrails + форматирование ответа.</a:t>
            </a:r>
          </a:p>
          <a:p>
            <a:pPr>
              <a:defRPr sz="1900"/>
            </a:pPr>
            <a:r>
              <a:t>Дальше: внешний FAQ-cache (JSON/DB), расширенные метрики, прод-мониторинг и A/B по UX.</a:t>
            </a:r>
          </a:p>
          <a:p>
            <a:pPr>
              <a:defRPr sz="1900"/>
            </a:pPr>
            <a:r>
              <a:t>Готов показать live-демо и ответить на вопросы.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Контакты: &lt;ваш email/telegram&gt;</a:t>
            </a:r>
          </a:p>
          <a:p>
            <a:pPr>
              <a:defRPr sz="1900"/>
            </a:pPr>
            <a:r>
              <a:t>Готов(а) к вопросам комиссии.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Качество и регрессия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Результат: Eval extra10 = ok 10/10 на последних прогонах.</a:t>
            </a:r>
          </a:p>
          <a:p>
            <a:pPr>
              <a:defRPr sz="1900"/>
            </a:pPr>
            <a:r>
              <a:t>Тестовый контур: 65 passed (critical guard + format + retrieval checks).</a:t>
            </a:r>
          </a:p>
          <a:p>
            <a:pPr>
              <a:defRPr sz="1900"/>
            </a:pPr>
            <a:r>
              <a:t>Unit-регрессия: pytest на сценариях критичных фактов, структуры ответа и источников.</a:t>
            </a:r>
          </a:p>
          <a:p>
            <a:pPr>
              <a:defRPr sz="1900"/>
            </a:pPr>
            <a:r>
              <a:t>Eval-регрессия: прогон набора extra10 + сравнение before/after через compare_eval_runs.</a:t>
            </a:r>
          </a:p>
          <a:p>
            <a:pPr>
              <a:defRPr sz="1900"/>
            </a:pPr>
            <a:r>
              <a:t>Цель регрессии: быстро обнаруживать деградацию после любых изменений в retrieval/guardrails/UI.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Антигаллюцинационный контур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1) Source sanitization: очистка и дедуп источников в финальном ответе.</a:t>
            </a:r>
          </a:p>
          <a:p>
            <a:pPr>
              <a:defRPr sz="1900"/>
            </a:pPr>
            <a:r>
              <a:t>2) Strict source reconstruction: сбор блока источников из retrieval-контекста.</a:t>
            </a:r>
          </a:p>
          <a:p>
            <a:pPr>
              <a:defRPr sz="1900"/>
            </a:pPr>
            <a:r>
              <a:t>3) Проверка реквизитов: выявление номеров НПА вне контекста и их пометка/замена.</a:t>
            </a:r>
          </a:p>
          <a:p>
            <a:pPr>
              <a:defRPr sz="1900"/>
            </a:pPr>
            <a:r>
              <a:t>4) Fact guards: коррекция критичных фактов в юридически чувствительных сценариях.</a:t>
            </a:r>
          </a:p>
          <a:p>
            <a:pPr>
              <a:defRPr sz="1900"/>
            </a:pPr>
            <a:r>
              <a:t>5) Эффект: меньше ложных ссылок, стабильнее нормативная привязка, выше доверие к ответу.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 по качеству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Система проходит регрессию по тестам и контрольным eval-наборам.</a:t>
            </a:r>
          </a:p>
          <a:p>
            <a:pPr>
              <a:defRPr sz="1900"/>
            </a:pPr>
            <a:r>
              <a:t>Ответы стали более воспроизводимыми и привязанными к источникам.</a:t>
            </a:r>
          </a:p>
          <a:p>
            <a:pPr>
              <a:defRPr sz="1900"/>
            </a:pPr>
            <a:r>
              <a:t>Ограничение: требуется юридическая верификация перед практическим применением.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Техническая реализация по шагам (схема)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Offline: import/clean -&gt; chunk -&gt; lexical index.</a:t>
            </a:r>
          </a:p>
          <a:p>
            <a:pPr>
              <a:defRPr sz="1900"/>
            </a:pPr>
            <a:r>
              <a:t>Online: question -&gt; TF-IDF -&gt; embeddings re-rank -&gt; multi-step -&gt; merge/expand -&gt; prompt -&gt; answer.</a:t>
            </a:r>
          </a:p>
          <a:p>
            <a:pPr>
              <a:defRPr sz="1900"/>
            </a:pPr>
            <a:r>
              <a:t>Контроль качества: guardrails + sanitizer + strict-source reconstruction + regression eval.</a:t>
            </a:r>
          </a:p>
          <a:p>
            <a:pPr lvl="1">
              <a:defRPr sz="1500"/>
            </a:pPr>
            <a:r>
              <a:t>Схему (mermaid) и детальный разбор см. в README и release/CORPUS_RETRIEVAL_PIPELINE.md.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details 1: TF-IDF +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TF-IDF: собственная реализация в scripts/build_index.py (TF, DF, IDF; прозрачный lexical baseline).</a:t>
            </a:r>
          </a:p>
          <a:p>
            <a:pPr>
              <a:defRPr sz="1900"/>
            </a:pPr>
            <a:r>
              <a:t>score_query: lexical ranking + юридические бусты по norm refs/intents.</a:t>
            </a:r>
          </a:p>
          <a:p>
            <a:pPr>
              <a:defRPr sz="1900"/>
            </a:pPr>
            <a:r>
              <a:t>Embeddings re-rank: пересортировка top-N кандидатов по смысловой близости.</a:t>
            </a:r>
          </a:p>
          <a:p>
            <a:pPr>
              <a:defRPr sz="1900"/>
            </a:pPr>
            <a:r>
              <a:t>Кэш embeddings: processed/embedding_cache.json для ускорения повторных запросов.</a:t>
            </a:r>
          </a:p>
          <a:p>
            <a:pPr>
              <a:defRPr sz="1900"/>
            </a:pPr>
            <a:r>
              <a:t>Fallback: при недоступности embeddings retrieval работает в lexical-only режиме.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details 2: Multi-step +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Multi-step retrieval: follow-up подзапросы, повторный поиск, merge и дедуп контекста.</a:t>
            </a:r>
          </a:p>
          <a:p>
            <a:pPr>
              <a:defRPr sz="1900"/>
            </a:pPr>
            <a:r>
              <a:t>Hierarchy expansion: parent-child/neighbor расширение для цельности нормы.</a:t>
            </a:r>
          </a:p>
          <a:p>
            <a:pPr>
              <a:defRPr sz="1900"/>
            </a:pPr>
            <a:r>
              <a:t>Guardrails: проверка критичных фактов, очистка реквизитов, контроль источников.</a:t>
            </a:r>
          </a:p>
          <a:p>
            <a:pPr>
              <a:defRPr sz="1900"/>
            </a:pPr>
            <a:r>
              <a:t>Правило по спискам документов: явный список или честное отсутствие перечня в контексте.</a:t>
            </a:r>
          </a:p>
          <a:p>
            <a:pPr>
              <a:defRPr sz="1900"/>
            </a:pPr>
            <a:r>
              <a:t>Регрессия: pytest (critical guards/format) + eval extra10 + compare before/after.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